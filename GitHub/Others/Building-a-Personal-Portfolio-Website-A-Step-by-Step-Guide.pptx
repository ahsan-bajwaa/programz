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Prata" panose="020B0604020202020204" charset="0"/>
      <p:regular r:id="rId17"/>
    </p:embeddedFont>
    <p:embeddedFont>
      <p:font typeface="Raleway" pitchFamily="2" charset="0"/>
      <p:regular r:id="rId18"/>
    </p:embeddedFont>
  </p:embeddedFontLst>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7" d="100"/>
          <a:sy n="57" d="100"/>
        </p:scale>
        <p:origin x="80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7141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16625"/>
            <a:ext cx="14630400" cy="8229600"/>
          </a:xfrm>
          <a:prstGeom prst="rect">
            <a:avLst/>
          </a:prstGeom>
          <a:solidFill>
            <a:srgbClr val="1B1C1D"/>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2155746"/>
            <a:ext cx="7556421" cy="2126337"/>
          </a:xfrm>
          <a:prstGeom prst="rect">
            <a:avLst/>
          </a:prstGeom>
          <a:noFill/>
          <a:ln/>
        </p:spPr>
        <p:txBody>
          <a:bodyPr wrap="squar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Building a Personal Portfolio Website: A Step-by-Step Guide</a:t>
            </a:r>
            <a:endParaRPr lang="en-US" sz="4450" dirty="0"/>
          </a:p>
        </p:txBody>
      </p:sp>
      <p:sp>
        <p:nvSpPr>
          <p:cNvPr id="4" name="Text 1"/>
          <p:cNvSpPr/>
          <p:nvPr/>
        </p:nvSpPr>
        <p:spPr>
          <a:xfrm>
            <a:off x="6280190" y="4622244"/>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This presentation provides a comprehensive guide to developing a personal portfolio website, covering its essential components, key design considerations, and implementation details using HTML, CSS, and JavaScript.</a:t>
            </a:r>
            <a:endParaRPr lang="en-US" sz="1750" dirty="0"/>
          </a:p>
        </p:txBody>
      </p:sp>
      <p:pic>
        <p:nvPicPr>
          <p:cNvPr id="6" name="Picture 5">
            <a:extLst>
              <a:ext uri="{FF2B5EF4-FFF2-40B4-BE49-F238E27FC236}">
                <a16:creationId xmlns:a16="http://schemas.microsoft.com/office/drawing/2014/main" id="{841DDE0A-B2D7-1FD7-8258-E51043797474}"/>
              </a:ext>
            </a:extLst>
          </p:cNvPr>
          <p:cNvPicPr>
            <a:picLocks noChangeAspect="1"/>
          </p:cNvPicPr>
          <p:nvPr/>
        </p:nvPicPr>
        <p:blipFill>
          <a:blip r:embed="rId3"/>
          <a:stretch>
            <a:fillRect/>
          </a:stretch>
        </p:blipFill>
        <p:spPr>
          <a:xfrm>
            <a:off x="0" y="0"/>
            <a:ext cx="6024482" cy="4094606"/>
          </a:xfrm>
          <a:prstGeom prst="rect">
            <a:avLst/>
          </a:prstGeom>
        </p:spPr>
      </p:pic>
      <p:pic>
        <p:nvPicPr>
          <p:cNvPr id="8" name="Picture 7">
            <a:extLst>
              <a:ext uri="{FF2B5EF4-FFF2-40B4-BE49-F238E27FC236}">
                <a16:creationId xmlns:a16="http://schemas.microsoft.com/office/drawing/2014/main" id="{147CB024-5E6E-DAFF-2221-9990A949CC3D}"/>
              </a:ext>
            </a:extLst>
          </p:cNvPr>
          <p:cNvPicPr>
            <a:picLocks noChangeAspect="1"/>
          </p:cNvPicPr>
          <p:nvPr/>
        </p:nvPicPr>
        <p:blipFill>
          <a:blip r:embed="rId4"/>
          <a:stretch>
            <a:fillRect/>
          </a:stretch>
        </p:blipFill>
        <p:spPr>
          <a:xfrm>
            <a:off x="0" y="4114801"/>
            <a:ext cx="6004745" cy="40946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15797"/>
            <a:ext cx="12001738" cy="708779"/>
          </a:xfrm>
          <a:prstGeom prst="rect">
            <a:avLst/>
          </a:prstGeom>
          <a:noFill/>
          <a:ln/>
        </p:spPr>
        <p:txBody>
          <a:bodyPr wrap="non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1. HTML Structure: Defining the Foundation</a:t>
            </a:r>
            <a:endParaRPr lang="en-US" sz="4450" dirty="0"/>
          </a:p>
        </p:txBody>
      </p:sp>
      <p:sp>
        <p:nvSpPr>
          <p:cNvPr id="3" name="Text 1"/>
          <p:cNvSpPr/>
          <p:nvPr/>
        </p:nvSpPr>
        <p:spPr>
          <a:xfrm>
            <a:off x="793790" y="289155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Index.html</a:t>
            </a:r>
            <a:endParaRPr lang="en-US" sz="2200" dirty="0"/>
          </a:p>
        </p:txBody>
      </p:sp>
      <p:sp>
        <p:nvSpPr>
          <p:cNvPr id="4" name="Text 2"/>
          <p:cNvSpPr/>
          <p:nvPr/>
        </p:nvSpPr>
        <p:spPr>
          <a:xfrm>
            <a:off x="793790" y="3472696"/>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The index.html file is the core of your portfolio website, defining its basic structure and content. It contains multiple key sections, each fulfilling a specific purpose.</a:t>
            </a:r>
            <a:endParaRPr lang="en-US" sz="1750" dirty="0"/>
          </a:p>
        </p:txBody>
      </p:sp>
      <p:sp>
        <p:nvSpPr>
          <p:cNvPr id="5" name="Text 3"/>
          <p:cNvSpPr/>
          <p:nvPr/>
        </p:nvSpPr>
        <p:spPr>
          <a:xfrm>
            <a:off x="7599521" y="289155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Key Sections</a:t>
            </a:r>
            <a:endParaRPr lang="en-US" sz="2200" dirty="0"/>
          </a:p>
        </p:txBody>
      </p:sp>
      <p:sp>
        <p:nvSpPr>
          <p:cNvPr id="6" name="Text 4"/>
          <p:cNvSpPr/>
          <p:nvPr/>
        </p:nvSpPr>
        <p:spPr>
          <a:xfrm>
            <a:off x="7599521" y="3472696"/>
            <a:ext cx="6244709" cy="108870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Header (#header): Houses the navigation menu, using an unordered list (ul) and a hamburger menu (div.hamburger) for mobile navigation.</a:t>
            </a:r>
            <a:endParaRPr lang="en-US" sz="1750" dirty="0"/>
          </a:p>
        </p:txBody>
      </p:sp>
      <p:sp>
        <p:nvSpPr>
          <p:cNvPr id="7" name="Text 5"/>
          <p:cNvSpPr/>
          <p:nvPr/>
        </p:nvSpPr>
        <p:spPr>
          <a:xfrm>
            <a:off x="7599521" y="4640699"/>
            <a:ext cx="6244709" cy="725805"/>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Hero Section (#hero): Displays your name and a portfolio button that links to the projects section.</a:t>
            </a:r>
            <a:endParaRPr lang="en-US" sz="1750" dirty="0"/>
          </a:p>
        </p:txBody>
      </p:sp>
      <p:sp>
        <p:nvSpPr>
          <p:cNvPr id="8" name="Text 6"/>
          <p:cNvSpPr/>
          <p:nvPr/>
        </p:nvSpPr>
        <p:spPr>
          <a:xfrm>
            <a:off x="7599521" y="5445800"/>
            <a:ext cx="6244709" cy="108870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Projects Section (#projects): Showcases your past work with individual project items (div.project-item), featuring images and brief descriptions.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358509"/>
            <a:ext cx="10878622" cy="708779"/>
          </a:xfrm>
          <a:prstGeom prst="rect">
            <a:avLst/>
          </a:prstGeom>
          <a:noFill/>
          <a:ln/>
        </p:spPr>
        <p:txBody>
          <a:bodyPr wrap="non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2. CSS Styling: Enhancing Visual Appeal</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Global Styling</a:t>
            </a:r>
            <a:endParaRPr lang="en-US" sz="2200" dirty="0"/>
          </a:p>
        </p:txBody>
      </p:sp>
      <p:sp>
        <p:nvSpPr>
          <p:cNvPr id="4" name="Text 2"/>
          <p:cNvSpPr/>
          <p:nvPr/>
        </p:nvSpPr>
        <p:spPr>
          <a:xfrm>
            <a:off x="793790" y="4215408"/>
            <a:ext cx="6244709" cy="1451610"/>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Global styling sets the foundation for the website's visual aesthetic. This includes applying a consistent font like Montserrat, ensuring smooth scrolling for navigation, and establishing a clear hierarchy for visual elements.</a:t>
            </a:r>
            <a:endParaRPr lang="en-US" sz="1750" dirty="0"/>
          </a:p>
        </p:txBody>
      </p:sp>
      <p:sp>
        <p:nvSpPr>
          <p:cNvPr id="5" name="Text 3"/>
          <p:cNvSpPr/>
          <p:nvPr/>
        </p:nvSpPr>
        <p:spPr>
          <a:xfrm>
            <a:off x="7599521" y="3634264"/>
            <a:ext cx="3148846"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Navigation and Header</a:t>
            </a:r>
            <a:endParaRPr lang="en-US" sz="2200" dirty="0"/>
          </a:p>
        </p:txBody>
      </p:sp>
      <p:sp>
        <p:nvSpPr>
          <p:cNvPr id="6" name="Text 4"/>
          <p:cNvSpPr/>
          <p:nvPr/>
        </p:nvSpPr>
        <p:spPr>
          <a:xfrm>
            <a:off x="7599521" y="4215408"/>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The header is made sticky, remaining visible even when scrolling. The navigation menu is initially hidden and slides in on click, providing a smooth user experience.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22916"/>
            <a:ext cx="12825651" cy="708779"/>
          </a:xfrm>
          <a:prstGeom prst="rect">
            <a:avLst/>
          </a:prstGeom>
          <a:noFill/>
          <a:ln/>
        </p:spPr>
        <p:txBody>
          <a:bodyPr wrap="non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3. JavaScript Functionality: Adding Interactivity</a:t>
            </a:r>
            <a:endParaRPr lang="en-US" sz="4450" dirty="0"/>
          </a:p>
        </p:txBody>
      </p:sp>
      <p:sp>
        <p:nvSpPr>
          <p:cNvPr id="3" name="Text 1"/>
          <p:cNvSpPr/>
          <p:nvPr/>
        </p:nvSpPr>
        <p:spPr>
          <a:xfrm>
            <a:off x="793790" y="2698671"/>
            <a:ext cx="3417451"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Hamburger Menu Toggle</a:t>
            </a:r>
            <a:endParaRPr lang="en-US" sz="2200" dirty="0"/>
          </a:p>
        </p:txBody>
      </p:sp>
      <p:sp>
        <p:nvSpPr>
          <p:cNvPr id="4" name="Text 2"/>
          <p:cNvSpPr/>
          <p:nvPr/>
        </p:nvSpPr>
        <p:spPr>
          <a:xfrm>
            <a:off x="793790" y="3279815"/>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JavaScript plays a crucial role in enhancing the website's interactivity, particularly in the navigation menu. The hamburger menu toggle script ensures responsiveness across various screen sizes, allowing users to access the navigation menu easily on mobile devices.</a:t>
            </a:r>
            <a:endParaRPr lang="en-US" sz="1750" dirty="0"/>
          </a:p>
        </p:txBody>
      </p:sp>
      <p:sp>
        <p:nvSpPr>
          <p:cNvPr id="5" name="Text 3"/>
          <p:cNvSpPr/>
          <p:nvPr/>
        </p:nvSpPr>
        <p:spPr>
          <a:xfrm>
            <a:off x="7599521" y="269867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JavaScript Code</a:t>
            </a:r>
            <a:endParaRPr lang="en-US" sz="2200" dirty="0"/>
          </a:p>
        </p:txBody>
      </p:sp>
      <p:sp>
        <p:nvSpPr>
          <p:cNvPr id="6" name="Shape 4"/>
          <p:cNvSpPr/>
          <p:nvPr/>
        </p:nvSpPr>
        <p:spPr>
          <a:xfrm>
            <a:off x="7599521" y="3308152"/>
            <a:ext cx="6244709" cy="3243263"/>
          </a:xfrm>
          <a:prstGeom prst="roundRect">
            <a:avLst>
              <a:gd name="adj" fmla="val 1049"/>
            </a:avLst>
          </a:prstGeom>
          <a:solidFill>
            <a:srgbClr val="443D09"/>
          </a:solidFill>
          <a:ln/>
        </p:spPr>
      </p:sp>
      <p:sp>
        <p:nvSpPr>
          <p:cNvPr id="7" name="Shape 5"/>
          <p:cNvSpPr/>
          <p:nvPr/>
        </p:nvSpPr>
        <p:spPr>
          <a:xfrm>
            <a:off x="7588210" y="3308152"/>
            <a:ext cx="6267331" cy="3243263"/>
          </a:xfrm>
          <a:prstGeom prst="roundRect">
            <a:avLst>
              <a:gd name="adj" fmla="val 1049"/>
            </a:avLst>
          </a:prstGeom>
          <a:solidFill>
            <a:srgbClr val="443D09"/>
          </a:solidFill>
          <a:ln/>
        </p:spPr>
      </p:sp>
      <p:sp>
        <p:nvSpPr>
          <p:cNvPr id="8" name="Text 6"/>
          <p:cNvSpPr/>
          <p:nvPr/>
        </p:nvSpPr>
        <p:spPr>
          <a:xfrm>
            <a:off x="7815024" y="3478173"/>
            <a:ext cx="5813703" cy="2903220"/>
          </a:xfrm>
          <a:prstGeom prst="rect">
            <a:avLst/>
          </a:prstGeom>
          <a:noFill/>
          <a:ln/>
        </p:spPr>
        <p:txBody>
          <a:bodyPr wrap="square" lIns="0" tIns="0" rIns="0" bIns="0" rtlCol="0" anchor="t"/>
          <a:lstStyle/>
          <a:p>
            <a:pPr marL="0" indent="0">
              <a:lnSpc>
                <a:spcPts val="2850"/>
              </a:lnSpc>
              <a:buNone/>
            </a:pPr>
            <a:r>
              <a:rPr lang="en-US" sz="1750" dirty="0">
                <a:solidFill>
                  <a:srgbClr val="CFCBBF"/>
                </a:solidFill>
                <a:highlight>
                  <a:srgbClr val="443D09"/>
                </a:highlight>
                <a:latin typeface="Consolas" pitchFamily="34" charset="0"/>
                <a:ea typeface="Consolas" pitchFamily="34" charset="-122"/>
                <a:cs typeface="Consolas" pitchFamily="34" charset="-120"/>
              </a:rPr>
              <a:t>const hamburger = document.querySelector(".hamburger");
const navList = document.querySelector(".nav-list ul");
hamburger.addEventListener("click", () =&gt; {
  navList.classList.toggle("active");
});
</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206252" y="729139"/>
            <a:ext cx="7704296" cy="1285399"/>
          </a:xfrm>
          <a:prstGeom prst="rect">
            <a:avLst/>
          </a:prstGeom>
          <a:noFill/>
          <a:ln/>
        </p:spPr>
        <p:txBody>
          <a:bodyPr wrap="square" lIns="0" tIns="0" rIns="0" bIns="0" rtlCol="0" anchor="t"/>
          <a:lstStyle/>
          <a:p>
            <a:pPr marL="0" indent="0">
              <a:lnSpc>
                <a:spcPts val="5050"/>
              </a:lnSpc>
              <a:buNone/>
            </a:pPr>
            <a:r>
              <a:rPr lang="en-US" sz="4000" dirty="0">
                <a:solidFill>
                  <a:srgbClr val="F2E782"/>
                </a:solidFill>
                <a:latin typeface="Prata" pitchFamily="34" charset="0"/>
                <a:ea typeface="Prata" pitchFamily="34" charset="-122"/>
                <a:cs typeface="Prata" pitchFamily="34" charset="-120"/>
              </a:rPr>
              <a:t>4. Responsiveness and Adaptability</a:t>
            </a:r>
            <a:endParaRPr lang="en-US" sz="4000" dirty="0"/>
          </a:p>
        </p:txBody>
      </p:sp>
      <p:sp>
        <p:nvSpPr>
          <p:cNvPr id="4" name="Shape 1"/>
          <p:cNvSpPr/>
          <p:nvPr/>
        </p:nvSpPr>
        <p:spPr>
          <a:xfrm>
            <a:off x="6206252" y="2554367"/>
            <a:ext cx="462796" cy="462796"/>
          </a:xfrm>
          <a:prstGeom prst="roundRect">
            <a:avLst>
              <a:gd name="adj" fmla="val 6667"/>
            </a:avLst>
          </a:prstGeom>
          <a:solidFill>
            <a:srgbClr val="3A3B3C"/>
          </a:solidFill>
          <a:ln/>
        </p:spPr>
      </p:sp>
      <p:sp>
        <p:nvSpPr>
          <p:cNvPr id="5" name="Text 2"/>
          <p:cNvSpPr/>
          <p:nvPr/>
        </p:nvSpPr>
        <p:spPr>
          <a:xfrm>
            <a:off x="6384369" y="2631519"/>
            <a:ext cx="106442" cy="308491"/>
          </a:xfrm>
          <a:prstGeom prst="rect">
            <a:avLst/>
          </a:prstGeom>
          <a:noFill/>
          <a:ln/>
        </p:spPr>
        <p:txBody>
          <a:bodyPr wrap="none" lIns="0" tIns="0" rIns="0" bIns="0" rtlCol="0" anchor="t"/>
          <a:lstStyle/>
          <a:p>
            <a:pPr marL="0" indent="0" algn="ctr">
              <a:lnSpc>
                <a:spcPts val="2400"/>
              </a:lnSpc>
              <a:buNone/>
            </a:pPr>
            <a:r>
              <a:rPr lang="en-US" sz="2400" dirty="0">
                <a:solidFill>
                  <a:srgbClr val="CFCBBF"/>
                </a:solidFill>
                <a:latin typeface="Prata" pitchFamily="34" charset="0"/>
                <a:ea typeface="Prata" pitchFamily="34" charset="-122"/>
                <a:cs typeface="Prata" pitchFamily="34" charset="-120"/>
              </a:rPr>
              <a:t>1</a:t>
            </a:r>
            <a:endParaRPr lang="en-US" sz="2400" dirty="0"/>
          </a:p>
        </p:txBody>
      </p:sp>
      <p:sp>
        <p:nvSpPr>
          <p:cNvPr id="6" name="Text 3"/>
          <p:cNvSpPr/>
          <p:nvPr/>
        </p:nvSpPr>
        <p:spPr>
          <a:xfrm>
            <a:off x="6874669" y="2554367"/>
            <a:ext cx="2571036" cy="321231"/>
          </a:xfrm>
          <a:prstGeom prst="rect">
            <a:avLst/>
          </a:prstGeom>
          <a:noFill/>
          <a:ln/>
        </p:spPr>
        <p:txBody>
          <a:bodyPr wrap="none" lIns="0" tIns="0" rIns="0" bIns="0" rtlCol="0" anchor="t"/>
          <a:lstStyle/>
          <a:p>
            <a:pPr marL="0" indent="0">
              <a:lnSpc>
                <a:spcPts val="2500"/>
              </a:lnSpc>
              <a:buNone/>
            </a:pPr>
            <a:r>
              <a:rPr lang="en-US" sz="2000" dirty="0">
                <a:solidFill>
                  <a:srgbClr val="CFCBBF"/>
                </a:solidFill>
                <a:latin typeface="Prata" pitchFamily="34" charset="0"/>
                <a:ea typeface="Prata" pitchFamily="34" charset="-122"/>
                <a:cs typeface="Prata" pitchFamily="34" charset="-120"/>
              </a:rPr>
              <a:t>Media Queries</a:t>
            </a:r>
            <a:endParaRPr lang="en-US" sz="2000" dirty="0"/>
          </a:p>
        </p:txBody>
      </p:sp>
      <p:sp>
        <p:nvSpPr>
          <p:cNvPr id="7" name="Text 4"/>
          <p:cNvSpPr/>
          <p:nvPr/>
        </p:nvSpPr>
        <p:spPr>
          <a:xfrm>
            <a:off x="6874669" y="2998946"/>
            <a:ext cx="3080980" cy="2303621"/>
          </a:xfrm>
          <a:prstGeom prst="rect">
            <a:avLst/>
          </a:prstGeom>
          <a:noFill/>
          <a:ln/>
        </p:spPr>
        <p:txBody>
          <a:bodyPr wrap="square" lIns="0" tIns="0" rIns="0" bIns="0" rtlCol="0" anchor="t"/>
          <a:lstStyle/>
          <a:p>
            <a:pPr marL="0" indent="0">
              <a:lnSpc>
                <a:spcPts val="2550"/>
              </a:lnSpc>
              <a:buNone/>
            </a:pPr>
            <a:r>
              <a:rPr lang="en-US" sz="1600" dirty="0">
                <a:solidFill>
                  <a:srgbClr val="CFCBBF"/>
                </a:solidFill>
                <a:latin typeface="Raleway" pitchFamily="34" charset="0"/>
                <a:ea typeface="Raleway" pitchFamily="34" charset="-122"/>
                <a:cs typeface="Raleway" pitchFamily="34" charset="-120"/>
              </a:rPr>
              <a:t>CSS media queries are essential for achieving responsiveness, allowing different styles to be applied based on the screen size and orientation. This ensures your website adapts seamlessly to different devices.</a:t>
            </a:r>
            <a:endParaRPr lang="en-US" sz="1600" dirty="0"/>
          </a:p>
        </p:txBody>
      </p:sp>
      <p:sp>
        <p:nvSpPr>
          <p:cNvPr id="8" name="Shape 5"/>
          <p:cNvSpPr/>
          <p:nvPr/>
        </p:nvSpPr>
        <p:spPr>
          <a:xfrm>
            <a:off x="10161270" y="2554367"/>
            <a:ext cx="462796" cy="462796"/>
          </a:xfrm>
          <a:prstGeom prst="roundRect">
            <a:avLst>
              <a:gd name="adj" fmla="val 6667"/>
            </a:avLst>
          </a:prstGeom>
          <a:solidFill>
            <a:srgbClr val="3A3B3C"/>
          </a:solidFill>
          <a:ln/>
        </p:spPr>
      </p:sp>
      <p:sp>
        <p:nvSpPr>
          <p:cNvPr id="9" name="Text 6"/>
          <p:cNvSpPr/>
          <p:nvPr/>
        </p:nvSpPr>
        <p:spPr>
          <a:xfrm>
            <a:off x="10298073" y="2631519"/>
            <a:ext cx="189071" cy="308491"/>
          </a:xfrm>
          <a:prstGeom prst="rect">
            <a:avLst/>
          </a:prstGeom>
          <a:noFill/>
          <a:ln/>
        </p:spPr>
        <p:txBody>
          <a:bodyPr wrap="none" lIns="0" tIns="0" rIns="0" bIns="0" rtlCol="0" anchor="t"/>
          <a:lstStyle/>
          <a:p>
            <a:pPr marL="0" indent="0" algn="ctr">
              <a:lnSpc>
                <a:spcPts val="2400"/>
              </a:lnSpc>
              <a:buNone/>
            </a:pPr>
            <a:r>
              <a:rPr lang="en-US" sz="2400" dirty="0">
                <a:solidFill>
                  <a:srgbClr val="CFCBBF"/>
                </a:solidFill>
                <a:latin typeface="Prata" pitchFamily="34" charset="0"/>
                <a:ea typeface="Prata" pitchFamily="34" charset="-122"/>
                <a:cs typeface="Prata" pitchFamily="34" charset="-120"/>
              </a:rPr>
              <a:t>2</a:t>
            </a:r>
            <a:endParaRPr lang="en-US" sz="2400" dirty="0"/>
          </a:p>
        </p:txBody>
      </p:sp>
      <p:sp>
        <p:nvSpPr>
          <p:cNvPr id="10" name="Text 7"/>
          <p:cNvSpPr/>
          <p:nvPr/>
        </p:nvSpPr>
        <p:spPr>
          <a:xfrm>
            <a:off x="10829687" y="2554367"/>
            <a:ext cx="2571036" cy="321231"/>
          </a:xfrm>
          <a:prstGeom prst="rect">
            <a:avLst/>
          </a:prstGeom>
          <a:noFill/>
          <a:ln/>
        </p:spPr>
        <p:txBody>
          <a:bodyPr wrap="none" lIns="0" tIns="0" rIns="0" bIns="0" rtlCol="0" anchor="t"/>
          <a:lstStyle/>
          <a:p>
            <a:pPr marL="0" indent="0">
              <a:lnSpc>
                <a:spcPts val="2500"/>
              </a:lnSpc>
              <a:buNone/>
            </a:pPr>
            <a:r>
              <a:rPr lang="en-US" sz="2000" dirty="0">
                <a:solidFill>
                  <a:srgbClr val="CFCBBF"/>
                </a:solidFill>
                <a:latin typeface="Prata" pitchFamily="34" charset="0"/>
                <a:ea typeface="Prata" pitchFamily="34" charset="-122"/>
                <a:cs typeface="Prata" pitchFamily="34" charset="-120"/>
              </a:rPr>
              <a:t>Mobile Navigation</a:t>
            </a:r>
            <a:endParaRPr lang="en-US" sz="2000" dirty="0"/>
          </a:p>
        </p:txBody>
      </p:sp>
      <p:sp>
        <p:nvSpPr>
          <p:cNvPr id="11" name="Text 8"/>
          <p:cNvSpPr/>
          <p:nvPr/>
        </p:nvSpPr>
        <p:spPr>
          <a:xfrm>
            <a:off x="10829687" y="2998946"/>
            <a:ext cx="3080980" cy="2632710"/>
          </a:xfrm>
          <a:prstGeom prst="rect">
            <a:avLst/>
          </a:prstGeom>
          <a:noFill/>
          <a:ln/>
        </p:spPr>
        <p:txBody>
          <a:bodyPr wrap="square" lIns="0" tIns="0" rIns="0" bIns="0" rtlCol="0" anchor="t"/>
          <a:lstStyle/>
          <a:p>
            <a:pPr marL="0" indent="0">
              <a:lnSpc>
                <a:spcPts val="2550"/>
              </a:lnSpc>
              <a:buNone/>
            </a:pPr>
            <a:r>
              <a:rPr lang="en-US" sz="1600" dirty="0">
                <a:solidFill>
                  <a:srgbClr val="CFCBBF"/>
                </a:solidFill>
                <a:latin typeface="Raleway" pitchFamily="34" charset="0"/>
                <a:ea typeface="Raleway" pitchFamily="34" charset="-122"/>
                <a:cs typeface="Raleway" pitchFamily="34" charset="-120"/>
              </a:rPr>
              <a:t>Media queries are used to create a mobile-friendly navigation menu, often transforming the horizontal menu into a hamburger menu, providing a compact and user-friendly experience on smaller screens.</a:t>
            </a:r>
            <a:endParaRPr lang="en-US" sz="1600" dirty="0"/>
          </a:p>
        </p:txBody>
      </p:sp>
      <p:sp>
        <p:nvSpPr>
          <p:cNvPr id="12" name="Shape 9"/>
          <p:cNvSpPr/>
          <p:nvPr/>
        </p:nvSpPr>
        <p:spPr>
          <a:xfrm>
            <a:off x="6206252" y="6068616"/>
            <a:ext cx="462796" cy="462796"/>
          </a:xfrm>
          <a:prstGeom prst="roundRect">
            <a:avLst>
              <a:gd name="adj" fmla="val 6667"/>
            </a:avLst>
          </a:prstGeom>
          <a:solidFill>
            <a:srgbClr val="3A3B3C"/>
          </a:solidFill>
          <a:ln/>
        </p:spPr>
      </p:sp>
      <p:sp>
        <p:nvSpPr>
          <p:cNvPr id="13" name="Text 10"/>
          <p:cNvSpPr/>
          <p:nvPr/>
        </p:nvSpPr>
        <p:spPr>
          <a:xfrm>
            <a:off x="6341983" y="6145768"/>
            <a:ext cx="191214" cy="308491"/>
          </a:xfrm>
          <a:prstGeom prst="rect">
            <a:avLst/>
          </a:prstGeom>
          <a:noFill/>
          <a:ln/>
        </p:spPr>
        <p:txBody>
          <a:bodyPr wrap="none" lIns="0" tIns="0" rIns="0" bIns="0" rtlCol="0" anchor="t"/>
          <a:lstStyle/>
          <a:p>
            <a:pPr marL="0" indent="0" algn="ctr">
              <a:lnSpc>
                <a:spcPts val="2400"/>
              </a:lnSpc>
              <a:buNone/>
            </a:pPr>
            <a:r>
              <a:rPr lang="en-US" sz="2400" dirty="0">
                <a:solidFill>
                  <a:srgbClr val="CFCBBF"/>
                </a:solidFill>
                <a:latin typeface="Prata" pitchFamily="34" charset="0"/>
                <a:ea typeface="Prata" pitchFamily="34" charset="-122"/>
                <a:cs typeface="Prata" pitchFamily="34" charset="-120"/>
              </a:rPr>
              <a:t>3</a:t>
            </a:r>
            <a:endParaRPr lang="en-US" sz="2400" dirty="0"/>
          </a:p>
        </p:txBody>
      </p:sp>
      <p:sp>
        <p:nvSpPr>
          <p:cNvPr id="14" name="Text 11"/>
          <p:cNvSpPr/>
          <p:nvPr/>
        </p:nvSpPr>
        <p:spPr>
          <a:xfrm>
            <a:off x="6874669" y="6068616"/>
            <a:ext cx="2571036" cy="321231"/>
          </a:xfrm>
          <a:prstGeom prst="rect">
            <a:avLst/>
          </a:prstGeom>
          <a:noFill/>
          <a:ln/>
        </p:spPr>
        <p:txBody>
          <a:bodyPr wrap="none" lIns="0" tIns="0" rIns="0" bIns="0" rtlCol="0" anchor="t"/>
          <a:lstStyle/>
          <a:p>
            <a:pPr marL="0" indent="0">
              <a:lnSpc>
                <a:spcPts val="2500"/>
              </a:lnSpc>
              <a:buNone/>
            </a:pPr>
            <a:r>
              <a:rPr lang="en-US" sz="2000" dirty="0">
                <a:solidFill>
                  <a:srgbClr val="CFCBBF"/>
                </a:solidFill>
                <a:latin typeface="Prata" pitchFamily="34" charset="0"/>
                <a:ea typeface="Prata" pitchFamily="34" charset="-122"/>
                <a:cs typeface="Prata" pitchFamily="34" charset="-120"/>
              </a:rPr>
              <a:t>Image Optimization</a:t>
            </a:r>
            <a:endParaRPr lang="en-US" sz="2000" dirty="0"/>
          </a:p>
        </p:txBody>
      </p:sp>
      <p:sp>
        <p:nvSpPr>
          <p:cNvPr id="15" name="Text 12"/>
          <p:cNvSpPr/>
          <p:nvPr/>
        </p:nvSpPr>
        <p:spPr>
          <a:xfrm>
            <a:off x="6874669" y="6513195"/>
            <a:ext cx="7035879" cy="987266"/>
          </a:xfrm>
          <a:prstGeom prst="rect">
            <a:avLst/>
          </a:prstGeom>
          <a:noFill/>
          <a:ln/>
        </p:spPr>
        <p:txBody>
          <a:bodyPr wrap="square" lIns="0" tIns="0" rIns="0" bIns="0" rtlCol="0" anchor="t"/>
          <a:lstStyle/>
          <a:p>
            <a:pPr marL="0" indent="0">
              <a:lnSpc>
                <a:spcPts val="2550"/>
              </a:lnSpc>
              <a:buNone/>
            </a:pPr>
            <a:r>
              <a:rPr lang="en-US" sz="1600" dirty="0">
                <a:solidFill>
                  <a:srgbClr val="CFCBBF"/>
                </a:solidFill>
                <a:latin typeface="Raleway" pitchFamily="34" charset="0"/>
                <a:ea typeface="Raleway" pitchFamily="34" charset="-122"/>
                <a:cs typeface="Raleway" pitchFamily="34" charset="-120"/>
              </a:rPr>
              <a:t>Optimizing images for different screen sizes is crucial for performance. Using responsive images allows the website to load faster and display appropriately on various devices.</a:t>
            </a:r>
            <a:endParaRPr lang="en-US" sz="1600" dirty="0"/>
          </a:p>
        </p:txBody>
      </p:sp>
      <p:pic>
        <p:nvPicPr>
          <p:cNvPr id="17" name="Picture 16">
            <a:extLst>
              <a:ext uri="{FF2B5EF4-FFF2-40B4-BE49-F238E27FC236}">
                <a16:creationId xmlns:a16="http://schemas.microsoft.com/office/drawing/2014/main" id="{43281C6E-A196-636A-005A-D9EC0C30E5C5}"/>
              </a:ext>
            </a:extLst>
          </p:cNvPr>
          <p:cNvPicPr>
            <a:picLocks noChangeAspect="1"/>
          </p:cNvPicPr>
          <p:nvPr/>
        </p:nvPicPr>
        <p:blipFill>
          <a:blip r:embed="rId3"/>
          <a:stretch>
            <a:fillRect/>
          </a:stretch>
        </p:blipFill>
        <p:spPr>
          <a:xfrm>
            <a:off x="27227" y="0"/>
            <a:ext cx="6038468" cy="4114800"/>
          </a:xfrm>
          <a:prstGeom prst="rect">
            <a:avLst/>
          </a:prstGeom>
        </p:spPr>
      </p:pic>
      <p:pic>
        <p:nvPicPr>
          <p:cNvPr id="19" name="Picture 18">
            <a:extLst>
              <a:ext uri="{FF2B5EF4-FFF2-40B4-BE49-F238E27FC236}">
                <a16:creationId xmlns:a16="http://schemas.microsoft.com/office/drawing/2014/main" id="{ECF3F6AB-CDA9-F46E-8158-1BCE24879BE1}"/>
              </a:ext>
            </a:extLst>
          </p:cNvPr>
          <p:cNvPicPr>
            <a:picLocks noChangeAspect="1"/>
          </p:cNvPicPr>
          <p:nvPr/>
        </p:nvPicPr>
        <p:blipFill>
          <a:blip r:embed="rId4"/>
          <a:stretch>
            <a:fillRect/>
          </a:stretch>
        </p:blipFill>
        <p:spPr>
          <a:xfrm>
            <a:off x="27227" y="4114801"/>
            <a:ext cx="5978682" cy="411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004060"/>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5. Content and Branding: Making a Lasting Impression</a:t>
            </a:r>
            <a:endParaRPr lang="en-US" sz="4450" dirty="0"/>
          </a:p>
        </p:txBody>
      </p:sp>
      <p:sp>
        <p:nvSpPr>
          <p:cNvPr id="3" name="Text 1"/>
          <p:cNvSpPr/>
          <p:nvPr/>
        </p:nvSpPr>
        <p:spPr>
          <a:xfrm>
            <a:off x="793790" y="398859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Content Strategy</a:t>
            </a:r>
            <a:endParaRPr lang="en-US" sz="2200" dirty="0"/>
          </a:p>
        </p:txBody>
      </p:sp>
      <p:sp>
        <p:nvSpPr>
          <p:cNvPr id="4" name="Text 2"/>
          <p:cNvSpPr/>
          <p:nvPr/>
        </p:nvSpPr>
        <p:spPr>
          <a:xfrm>
            <a:off x="793790" y="4569738"/>
            <a:ext cx="6244709" cy="1451610"/>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Craft compelling content that showcases your skills, experience, and personal brand. Use clear and concise language that effectively communicates your value proposition to potential employers or clients.</a:t>
            </a:r>
            <a:endParaRPr lang="en-US" sz="1750" dirty="0"/>
          </a:p>
        </p:txBody>
      </p:sp>
      <p:sp>
        <p:nvSpPr>
          <p:cNvPr id="5" name="Text 3"/>
          <p:cNvSpPr/>
          <p:nvPr/>
        </p:nvSpPr>
        <p:spPr>
          <a:xfrm>
            <a:off x="7599521" y="398859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Visual Identity</a:t>
            </a:r>
            <a:endParaRPr lang="en-US" sz="2200" dirty="0"/>
          </a:p>
        </p:txBody>
      </p:sp>
      <p:sp>
        <p:nvSpPr>
          <p:cNvPr id="6" name="Text 4"/>
          <p:cNvSpPr/>
          <p:nvPr/>
        </p:nvSpPr>
        <p:spPr>
          <a:xfrm>
            <a:off x="7599521" y="4569738"/>
            <a:ext cx="6244709" cy="1451610"/>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Develop a consistent visual identity for your portfolio website, using a cohesive color palette, typography, and imagery. This creates a visually appealing and memorable experience for visitors.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1516" y="551140"/>
            <a:ext cx="13227368" cy="1252776"/>
          </a:xfrm>
          <a:prstGeom prst="rect">
            <a:avLst/>
          </a:prstGeom>
          <a:noFill/>
          <a:ln/>
        </p:spPr>
        <p:txBody>
          <a:bodyPr wrap="square" lIns="0" tIns="0" rIns="0" bIns="0" rtlCol="0" anchor="t"/>
          <a:lstStyle/>
          <a:p>
            <a:pPr marL="0" indent="0">
              <a:lnSpc>
                <a:spcPts val="4900"/>
              </a:lnSpc>
              <a:buNone/>
            </a:pPr>
            <a:r>
              <a:rPr lang="en-US" sz="3900" dirty="0">
                <a:solidFill>
                  <a:srgbClr val="F2E782"/>
                </a:solidFill>
                <a:latin typeface="Prata" pitchFamily="34" charset="0"/>
                <a:ea typeface="Prata" pitchFamily="34" charset="-122"/>
                <a:cs typeface="Prata" pitchFamily="34" charset="-120"/>
              </a:rPr>
              <a:t>6. Project Showcase: Highlighting Your Accomplishments</a:t>
            </a:r>
            <a:endParaRPr lang="en-US" sz="3900" dirty="0"/>
          </a:p>
        </p:txBody>
      </p:sp>
      <p:sp>
        <p:nvSpPr>
          <p:cNvPr id="4" name="Text 1"/>
          <p:cNvSpPr/>
          <p:nvPr/>
        </p:nvSpPr>
        <p:spPr>
          <a:xfrm>
            <a:off x="701516" y="5985272"/>
            <a:ext cx="2505551" cy="313134"/>
          </a:xfrm>
          <a:prstGeom prst="rect">
            <a:avLst/>
          </a:prstGeom>
          <a:noFill/>
          <a:ln/>
        </p:spPr>
        <p:txBody>
          <a:bodyPr wrap="none" lIns="0" tIns="0" rIns="0" bIns="0" rtlCol="0" anchor="t"/>
          <a:lstStyle/>
          <a:p>
            <a:pPr marL="0" indent="0" algn="l">
              <a:lnSpc>
                <a:spcPts val="2450"/>
              </a:lnSpc>
              <a:buNone/>
            </a:pPr>
            <a:r>
              <a:rPr lang="en-US" sz="1950" dirty="0">
                <a:solidFill>
                  <a:srgbClr val="CFCBBF"/>
                </a:solidFill>
                <a:latin typeface="Prata" pitchFamily="34" charset="0"/>
                <a:ea typeface="Prata" pitchFamily="34" charset="-122"/>
                <a:cs typeface="Prata" pitchFamily="34" charset="-120"/>
              </a:rPr>
              <a:t>Clear &amp; Concise</a:t>
            </a:r>
            <a:endParaRPr lang="en-US" sz="1950" dirty="0"/>
          </a:p>
        </p:txBody>
      </p:sp>
      <p:sp>
        <p:nvSpPr>
          <p:cNvPr id="5" name="Text 2"/>
          <p:cNvSpPr/>
          <p:nvPr/>
        </p:nvSpPr>
        <p:spPr>
          <a:xfrm>
            <a:off x="701516" y="6418659"/>
            <a:ext cx="6463308" cy="962263"/>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Present your projects in a clear and concise manner, using high-quality images, brief descriptions, and relevant keywords. Each project should highlight its key features and your contributions.</a:t>
            </a:r>
            <a:endParaRPr lang="en-US" sz="1550" dirty="0"/>
          </a:p>
        </p:txBody>
      </p:sp>
      <p:sp>
        <p:nvSpPr>
          <p:cNvPr id="7" name="Text 3"/>
          <p:cNvSpPr/>
          <p:nvPr/>
        </p:nvSpPr>
        <p:spPr>
          <a:xfrm>
            <a:off x="7465457" y="5985272"/>
            <a:ext cx="2700814" cy="313134"/>
          </a:xfrm>
          <a:prstGeom prst="rect">
            <a:avLst/>
          </a:prstGeom>
          <a:noFill/>
          <a:ln/>
        </p:spPr>
        <p:txBody>
          <a:bodyPr wrap="none" lIns="0" tIns="0" rIns="0" bIns="0" rtlCol="0" anchor="t"/>
          <a:lstStyle/>
          <a:p>
            <a:pPr marL="0" indent="0" algn="l">
              <a:lnSpc>
                <a:spcPts val="2450"/>
              </a:lnSpc>
              <a:buNone/>
            </a:pPr>
            <a:r>
              <a:rPr lang="en-US" sz="1950" dirty="0">
                <a:solidFill>
                  <a:srgbClr val="CFCBBF"/>
                </a:solidFill>
                <a:latin typeface="Prata" pitchFamily="34" charset="0"/>
                <a:ea typeface="Prata" pitchFamily="34" charset="-122"/>
                <a:cs typeface="Prata" pitchFamily="34" charset="-120"/>
              </a:rPr>
              <a:t>Organized &amp; Engaging</a:t>
            </a:r>
            <a:endParaRPr lang="en-US" sz="1950" dirty="0"/>
          </a:p>
        </p:txBody>
      </p:sp>
      <p:sp>
        <p:nvSpPr>
          <p:cNvPr id="8" name="Text 4"/>
          <p:cNvSpPr/>
          <p:nvPr/>
        </p:nvSpPr>
        <p:spPr>
          <a:xfrm>
            <a:off x="7465457" y="6418659"/>
            <a:ext cx="6463427" cy="1283018"/>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Organize your projects into logical categories, making it easy for visitors to navigate and discover relevant projects. Consider using interactive elements like hover effects to enhance the user experience.</a:t>
            </a:r>
            <a:endParaRPr lang="en-US" sz="1550" dirty="0"/>
          </a:p>
        </p:txBody>
      </p:sp>
      <p:pic>
        <p:nvPicPr>
          <p:cNvPr id="10" name="Picture 9">
            <a:extLst>
              <a:ext uri="{FF2B5EF4-FFF2-40B4-BE49-F238E27FC236}">
                <a16:creationId xmlns:a16="http://schemas.microsoft.com/office/drawing/2014/main" id="{A41DAAD6-154D-ACF8-0D51-CB93A1AA3A76}"/>
              </a:ext>
            </a:extLst>
          </p:cNvPr>
          <p:cNvPicPr>
            <a:picLocks noChangeAspect="1"/>
          </p:cNvPicPr>
          <p:nvPr/>
        </p:nvPicPr>
        <p:blipFill>
          <a:blip r:embed="rId3"/>
          <a:stretch>
            <a:fillRect/>
          </a:stretch>
        </p:blipFill>
        <p:spPr>
          <a:xfrm>
            <a:off x="1009259" y="2114614"/>
            <a:ext cx="5601482" cy="3810532"/>
          </a:xfrm>
          <a:prstGeom prst="rect">
            <a:avLst/>
          </a:prstGeom>
        </p:spPr>
      </p:pic>
      <p:pic>
        <p:nvPicPr>
          <p:cNvPr id="12" name="Picture 11">
            <a:extLst>
              <a:ext uri="{FF2B5EF4-FFF2-40B4-BE49-F238E27FC236}">
                <a16:creationId xmlns:a16="http://schemas.microsoft.com/office/drawing/2014/main" id="{1DFCFF4D-D0D4-E843-0691-7B814920F4D7}"/>
              </a:ext>
            </a:extLst>
          </p:cNvPr>
          <p:cNvPicPr>
            <a:picLocks noChangeAspect="1"/>
          </p:cNvPicPr>
          <p:nvPr/>
        </p:nvPicPr>
        <p:blipFill>
          <a:blip r:embed="rId4"/>
          <a:stretch>
            <a:fillRect/>
          </a:stretch>
        </p:blipFill>
        <p:spPr>
          <a:xfrm>
            <a:off x="7465457" y="1273684"/>
            <a:ext cx="6636313" cy="45574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46760" y="927735"/>
            <a:ext cx="7650480" cy="1333738"/>
          </a:xfrm>
          <a:prstGeom prst="rect">
            <a:avLst/>
          </a:prstGeom>
          <a:noFill/>
          <a:ln/>
        </p:spPr>
        <p:txBody>
          <a:bodyPr wrap="square" lIns="0" tIns="0" rIns="0" bIns="0" rtlCol="0" anchor="t"/>
          <a:lstStyle/>
          <a:p>
            <a:pPr marL="0" indent="0">
              <a:lnSpc>
                <a:spcPts val="5250"/>
              </a:lnSpc>
              <a:buNone/>
            </a:pPr>
            <a:r>
              <a:rPr lang="en-US" sz="4200" dirty="0">
                <a:solidFill>
                  <a:srgbClr val="F2E782"/>
                </a:solidFill>
                <a:latin typeface="Prata" pitchFamily="34" charset="0"/>
                <a:ea typeface="Prata" pitchFamily="34" charset="-122"/>
                <a:cs typeface="Prata" pitchFamily="34" charset="-120"/>
              </a:rPr>
              <a:t>7. Call to Action: Encouraging Engagement</a:t>
            </a:r>
            <a:endParaRPr lang="en-US" sz="4200" dirty="0"/>
          </a:p>
        </p:txBody>
      </p:sp>
      <p:sp>
        <p:nvSpPr>
          <p:cNvPr id="4" name="Shape 1"/>
          <p:cNvSpPr/>
          <p:nvPr/>
        </p:nvSpPr>
        <p:spPr>
          <a:xfrm>
            <a:off x="746760" y="2581513"/>
            <a:ext cx="3718560" cy="2936200"/>
          </a:xfrm>
          <a:prstGeom prst="roundRect">
            <a:avLst>
              <a:gd name="adj" fmla="val 1090"/>
            </a:avLst>
          </a:prstGeom>
          <a:solidFill>
            <a:srgbClr val="3A3B3C"/>
          </a:solidFill>
          <a:ln/>
        </p:spPr>
      </p:sp>
      <p:sp>
        <p:nvSpPr>
          <p:cNvPr id="5" name="Text 2"/>
          <p:cNvSpPr/>
          <p:nvPr/>
        </p:nvSpPr>
        <p:spPr>
          <a:xfrm>
            <a:off x="960120" y="2794873"/>
            <a:ext cx="2667357" cy="333375"/>
          </a:xfrm>
          <a:prstGeom prst="rect">
            <a:avLst/>
          </a:prstGeom>
          <a:noFill/>
          <a:ln/>
        </p:spPr>
        <p:txBody>
          <a:bodyPr wrap="none" lIns="0" tIns="0" rIns="0" bIns="0" rtlCol="0" anchor="t"/>
          <a:lstStyle/>
          <a:p>
            <a:pPr marL="0" indent="0">
              <a:lnSpc>
                <a:spcPts val="2600"/>
              </a:lnSpc>
              <a:buNone/>
            </a:pPr>
            <a:r>
              <a:rPr lang="en-US" sz="2100" dirty="0">
                <a:solidFill>
                  <a:srgbClr val="CFCBBF"/>
                </a:solidFill>
                <a:latin typeface="Prata" pitchFamily="34" charset="0"/>
                <a:ea typeface="Prata" pitchFamily="34" charset="-122"/>
                <a:cs typeface="Prata" pitchFamily="34" charset="-120"/>
              </a:rPr>
              <a:t>Contact Form</a:t>
            </a:r>
            <a:endParaRPr lang="en-US" sz="2100" dirty="0"/>
          </a:p>
        </p:txBody>
      </p:sp>
      <p:sp>
        <p:nvSpPr>
          <p:cNvPr id="6" name="Text 3"/>
          <p:cNvSpPr/>
          <p:nvPr/>
        </p:nvSpPr>
        <p:spPr>
          <a:xfrm>
            <a:off x="960120" y="3256240"/>
            <a:ext cx="3291840" cy="2048113"/>
          </a:xfrm>
          <a:prstGeom prst="rect">
            <a:avLst/>
          </a:prstGeom>
          <a:noFill/>
          <a:ln/>
        </p:spPr>
        <p:txBody>
          <a:bodyPr wrap="square" lIns="0" tIns="0" rIns="0" bIns="0" rtlCol="0" anchor="t"/>
          <a:lstStyle/>
          <a:p>
            <a:pPr marL="0" indent="0">
              <a:lnSpc>
                <a:spcPts val="2650"/>
              </a:lnSpc>
              <a:buNone/>
            </a:pPr>
            <a:r>
              <a:rPr lang="en-US" sz="1650" dirty="0">
                <a:solidFill>
                  <a:srgbClr val="CFCBBF"/>
                </a:solidFill>
                <a:latin typeface="Raleway" pitchFamily="34" charset="0"/>
                <a:ea typeface="Raleway" pitchFamily="34" charset="-122"/>
                <a:cs typeface="Raleway" pitchFamily="34" charset="-120"/>
              </a:rPr>
              <a:t>Include a clear and accessible contact form that allows visitors to easily reach out to you. Ensure the form is user-friendly and collects essential information for communication.</a:t>
            </a:r>
            <a:endParaRPr lang="en-US" sz="1650" dirty="0"/>
          </a:p>
        </p:txBody>
      </p:sp>
      <p:sp>
        <p:nvSpPr>
          <p:cNvPr id="7" name="Shape 4"/>
          <p:cNvSpPr/>
          <p:nvPr/>
        </p:nvSpPr>
        <p:spPr>
          <a:xfrm>
            <a:off x="4678680" y="2581513"/>
            <a:ext cx="3718560" cy="2936200"/>
          </a:xfrm>
          <a:prstGeom prst="roundRect">
            <a:avLst>
              <a:gd name="adj" fmla="val 1090"/>
            </a:avLst>
          </a:prstGeom>
          <a:solidFill>
            <a:srgbClr val="3A3B3C"/>
          </a:solidFill>
          <a:ln/>
        </p:spPr>
      </p:sp>
      <p:sp>
        <p:nvSpPr>
          <p:cNvPr id="8" name="Text 5"/>
          <p:cNvSpPr/>
          <p:nvPr/>
        </p:nvSpPr>
        <p:spPr>
          <a:xfrm>
            <a:off x="4892040" y="2794873"/>
            <a:ext cx="2667357" cy="333375"/>
          </a:xfrm>
          <a:prstGeom prst="rect">
            <a:avLst/>
          </a:prstGeom>
          <a:noFill/>
          <a:ln/>
        </p:spPr>
        <p:txBody>
          <a:bodyPr wrap="none" lIns="0" tIns="0" rIns="0" bIns="0" rtlCol="0" anchor="t"/>
          <a:lstStyle/>
          <a:p>
            <a:pPr marL="0" indent="0">
              <a:lnSpc>
                <a:spcPts val="2600"/>
              </a:lnSpc>
              <a:buNone/>
            </a:pPr>
            <a:r>
              <a:rPr lang="en-US" sz="2100" dirty="0">
                <a:solidFill>
                  <a:srgbClr val="CFCBBF"/>
                </a:solidFill>
                <a:latin typeface="Prata" pitchFamily="34" charset="0"/>
                <a:ea typeface="Prata" pitchFamily="34" charset="-122"/>
                <a:cs typeface="Prata" pitchFamily="34" charset="-120"/>
              </a:rPr>
              <a:t>Social Media Links</a:t>
            </a:r>
            <a:endParaRPr lang="en-US" sz="2100" dirty="0"/>
          </a:p>
        </p:txBody>
      </p:sp>
      <p:sp>
        <p:nvSpPr>
          <p:cNvPr id="9" name="Text 6"/>
          <p:cNvSpPr/>
          <p:nvPr/>
        </p:nvSpPr>
        <p:spPr>
          <a:xfrm>
            <a:off x="4892040" y="3256240"/>
            <a:ext cx="3291840" cy="2048113"/>
          </a:xfrm>
          <a:prstGeom prst="rect">
            <a:avLst/>
          </a:prstGeom>
          <a:noFill/>
          <a:ln/>
        </p:spPr>
        <p:txBody>
          <a:bodyPr wrap="square" lIns="0" tIns="0" rIns="0" bIns="0" rtlCol="0" anchor="t"/>
          <a:lstStyle/>
          <a:p>
            <a:pPr marL="0" indent="0">
              <a:lnSpc>
                <a:spcPts val="2650"/>
              </a:lnSpc>
              <a:buNone/>
            </a:pPr>
            <a:r>
              <a:rPr lang="en-US" sz="1650" dirty="0">
                <a:solidFill>
                  <a:srgbClr val="CFCBBF"/>
                </a:solidFill>
                <a:latin typeface="Raleway" pitchFamily="34" charset="0"/>
                <a:ea typeface="Raleway" pitchFamily="34" charset="-122"/>
                <a:cs typeface="Raleway" pitchFamily="34" charset="-120"/>
              </a:rPr>
              <a:t>Include links to your social media profiles, allowing visitors to connect with you on other platforms and learn more about your interests and professional activities.</a:t>
            </a:r>
            <a:endParaRPr lang="en-US" sz="1650" dirty="0"/>
          </a:p>
        </p:txBody>
      </p:sp>
      <p:sp>
        <p:nvSpPr>
          <p:cNvPr id="10" name="Shape 7"/>
          <p:cNvSpPr/>
          <p:nvPr/>
        </p:nvSpPr>
        <p:spPr>
          <a:xfrm>
            <a:off x="746760" y="5731073"/>
            <a:ext cx="7650480" cy="1570792"/>
          </a:xfrm>
          <a:prstGeom prst="roundRect">
            <a:avLst>
              <a:gd name="adj" fmla="val 2038"/>
            </a:avLst>
          </a:prstGeom>
          <a:solidFill>
            <a:srgbClr val="3A3B3C"/>
          </a:solidFill>
          <a:ln/>
        </p:spPr>
      </p:sp>
      <p:sp>
        <p:nvSpPr>
          <p:cNvPr id="11" name="Text 8"/>
          <p:cNvSpPr/>
          <p:nvPr/>
        </p:nvSpPr>
        <p:spPr>
          <a:xfrm>
            <a:off x="960120" y="5944433"/>
            <a:ext cx="2667357" cy="333375"/>
          </a:xfrm>
          <a:prstGeom prst="rect">
            <a:avLst/>
          </a:prstGeom>
          <a:noFill/>
          <a:ln/>
        </p:spPr>
        <p:txBody>
          <a:bodyPr wrap="none" lIns="0" tIns="0" rIns="0" bIns="0" rtlCol="0" anchor="t"/>
          <a:lstStyle/>
          <a:p>
            <a:pPr marL="0" indent="0">
              <a:lnSpc>
                <a:spcPts val="2600"/>
              </a:lnSpc>
              <a:buNone/>
            </a:pPr>
            <a:r>
              <a:rPr lang="en-US" sz="2100" dirty="0">
                <a:solidFill>
                  <a:srgbClr val="CFCBBF"/>
                </a:solidFill>
                <a:latin typeface="Prata" pitchFamily="34" charset="0"/>
                <a:ea typeface="Prata" pitchFamily="34" charset="-122"/>
                <a:cs typeface="Prata" pitchFamily="34" charset="-120"/>
              </a:rPr>
              <a:t>Portfolio Button</a:t>
            </a:r>
            <a:endParaRPr lang="en-US" sz="2100" dirty="0"/>
          </a:p>
        </p:txBody>
      </p:sp>
      <p:sp>
        <p:nvSpPr>
          <p:cNvPr id="12" name="Text 9"/>
          <p:cNvSpPr/>
          <p:nvPr/>
        </p:nvSpPr>
        <p:spPr>
          <a:xfrm>
            <a:off x="960120" y="6405801"/>
            <a:ext cx="7223760" cy="682704"/>
          </a:xfrm>
          <a:prstGeom prst="rect">
            <a:avLst/>
          </a:prstGeom>
          <a:noFill/>
          <a:ln/>
        </p:spPr>
        <p:txBody>
          <a:bodyPr wrap="square" lIns="0" tIns="0" rIns="0" bIns="0" rtlCol="0" anchor="t"/>
          <a:lstStyle/>
          <a:p>
            <a:pPr marL="0" indent="0">
              <a:lnSpc>
                <a:spcPts val="2650"/>
              </a:lnSpc>
              <a:buNone/>
            </a:pPr>
            <a:r>
              <a:rPr lang="en-US" sz="1650" dirty="0">
                <a:solidFill>
                  <a:srgbClr val="CFCBBF"/>
                </a:solidFill>
                <a:latin typeface="Raleway" pitchFamily="34" charset="0"/>
                <a:ea typeface="Raleway" pitchFamily="34" charset="-122"/>
                <a:cs typeface="Raleway" pitchFamily="34" charset="-120"/>
              </a:rPr>
              <a:t>The portfolio button on the hero section should be prominent and engaging, providing a clear visual cue to visitors to explore your projects.</a:t>
            </a:r>
            <a:endParaRPr lang="en-US" sz="1650" dirty="0"/>
          </a:p>
        </p:txBody>
      </p:sp>
      <p:pic>
        <p:nvPicPr>
          <p:cNvPr id="14" name="Picture 13">
            <a:extLst>
              <a:ext uri="{FF2B5EF4-FFF2-40B4-BE49-F238E27FC236}">
                <a16:creationId xmlns:a16="http://schemas.microsoft.com/office/drawing/2014/main" id="{E883B1A9-F7BB-8425-AACB-8BE16D16F0B9}"/>
              </a:ext>
            </a:extLst>
          </p:cNvPr>
          <p:cNvPicPr>
            <a:picLocks noChangeAspect="1"/>
          </p:cNvPicPr>
          <p:nvPr/>
        </p:nvPicPr>
        <p:blipFill>
          <a:blip r:embed="rId3"/>
          <a:stretch>
            <a:fillRect/>
          </a:stretch>
        </p:blipFill>
        <p:spPr>
          <a:xfrm>
            <a:off x="9103342" y="4681267"/>
            <a:ext cx="4940600" cy="3449068"/>
          </a:xfrm>
          <a:prstGeom prst="rect">
            <a:avLst/>
          </a:prstGeom>
        </p:spPr>
      </p:pic>
      <p:pic>
        <p:nvPicPr>
          <p:cNvPr id="16" name="Picture 15">
            <a:extLst>
              <a:ext uri="{FF2B5EF4-FFF2-40B4-BE49-F238E27FC236}">
                <a16:creationId xmlns:a16="http://schemas.microsoft.com/office/drawing/2014/main" id="{2ED78C72-B58E-5127-A744-09CE98CC2DD2}"/>
              </a:ext>
            </a:extLst>
          </p:cNvPr>
          <p:cNvPicPr>
            <a:picLocks noChangeAspect="1"/>
          </p:cNvPicPr>
          <p:nvPr/>
        </p:nvPicPr>
        <p:blipFill>
          <a:blip r:embed="rId4"/>
          <a:stretch>
            <a:fillRect/>
          </a:stretch>
        </p:blipFill>
        <p:spPr>
          <a:xfrm>
            <a:off x="8450342" y="276770"/>
            <a:ext cx="5973009" cy="990738"/>
          </a:xfrm>
          <a:prstGeom prst="rect">
            <a:avLst/>
          </a:prstGeom>
        </p:spPr>
      </p:pic>
      <p:pic>
        <p:nvPicPr>
          <p:cNvPr id="18" name="Picture 17">
            <a:extLst>
              <a:ext uri="{FF2B5EF4-FFF2-40B4-BE49-F238E27FC236}">
                <a16:creationId xmlns:a16="http://schemas.microsoft.com/office/drawing/2014/main" id="{661A1E1F-D38B-C7A1-F805-4C51E466FBD9}"/>
              </a:ext>
            </a:extLst>
          </p:cNvPr>
          <p:cNvPicPr>
            <a:picLocks noChangeAspect="1"/>
          </p:cNvPicPr>
          <p:nvPr/>
        </p:nvPicPr>
        <p:blipFill>
          <a:blip r:embed="rId5"/>
          <a:stretch>
            <a:fillRect/>
          </a:stretch>
        </p:blipFill>
        <p:spPr>
          <a:xfrm>
            <a:off x="8450342" y="1406986"/>
            <a:ext cx="3429479" cy="1590897"/>
          </a:xfrm>
          <a:prstGeom prst="rect">
            <a:avLst/>
          </a:prstGeom>
        </p:spPr>
      </p:pic>
      <p:pic>
        <p:nvPicPr>
          <p:cNvPr id="20" name="Picture 19">
            <a:extLst>
              <a:ext uri="{FF2B5EF4-FFF2-40B4-BE49-F238E27FC236}">
                <a16:creationId xmlns:a16="http://schemas.microsoft.com/office/drawing/2014/main" id="{DF614D77-F2C8-8F19-8BDF-B0FA0B41D6A2}"/>
              </a:ext>
            </a:extLst>
          </p:cNvPr>
          <p:cNvPicPr>
            <a:picLocks noChangeAspect="1"/>
          </p:cNvPicPr>
          <p:nvPr/>
        </p:nvPicPr>
        <p:blipFill>
          <a:blip r:embed="rId6"/>
          <a:stretch>
            <a:fillRect/>
          </a:stretch>
        </p:blipFill>
        <p:spPr>
          <a:xfrm>
            <a:off x="11192206" y="2997883"/>
            <a:ext cx="3429479" cy="15813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28424"/>
            <a:ext cx="12069247" cy="708779"/>
          </a:xfrm>
          <a:prstGeom prst="rect">
            <a:avLst/>
          </a:prstGeom>
          <a:noFill/>
          <a:ln/>
        </p:spPr>
        <p:txBody>
          <a:bodyPr wrap="non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Key Takeaways: Building a Winning Portfolio</a:t>
            </a:r>
            <a:endParaRPr lang="en-US" sz="4450" dirty="0"/>
          </a:p>
        </p:txBody>
      </p:sp>
      <p:pic>
        <p:nvPicPr>
          <p:cNvPr id="3" name="Image 0" descr="preencoded.png"/>
          <p:cNvPicPr>
            <a:picLocks noChangeAspect="1"/>
          </p:cNvPicPr>
          <p:nvPr/>
        </p:nvPicPr>
        <p:blipFill>
          <a:blip r:embed="rId3"/>
          <a:stretch>
            <a:fillRect/>
          </a:stretch>
        </p:blipFill>
        <p:spPr>
          <a:xfrm>
            <a:off x="3408759" y="1890832"/>
            <a:ext cx="1291233" cy="807958"/>
          </a:xfrm>
          <a:prstGeom prst="rect">
            <a:avLst/>
          </a:prstGeom>
        </p:spPr>
      </p:pic>
      <p:sp>
        <p:nvSpPr>
          <p:cNvPr id="4" name="Text 1"/>
          <p:cNvSpPr/>
          <p:nvPr/>
        </p:nvSpPr>
        <p:spPr>
          <a:xfrm>
            <a:off x="4005382" y="2155150"/>
            <a:ext cx="97869" cy="453509"/>
          </a:xfrm>
          <a:prstGeom prst="rect">
            <a:avLst/>
          </a:prstGeom>
          <a:noFill/>
          <a:ln/>
        </p:spPr>
        <p:txBody>
          <a:bodyPr wrap="none" lIns="0" tIns="0" rIns="0" bIns="0" rtlCol="0" anchor="t"/>
          <a:lstStyle/>
          <a:p>
            <a:pPr marL="0" indent="0" algn="ctr">
              <a:lnSpc>
                <a:spcPts val="3550"/>
              </a:lnSpc>
              <a:buNone/>
            </a:pPr>
            <a:r>
              <a:rPr lang="en-US" sz="2200" dirty="0">
                <a:solidFill>
                  <a:srgbClr val="CFCBBF"/>
                </a:solidFill>
                <a:latin typeface="Prata" pitchFamily="34" charset="0"/>
                <a:ea typeface="Prata" pitchFamily="34" charset="-122"/>
                <a:cs typeface="Prata" pitchFamily="34" charset="-120"/>
              </a:rPr>
              <a:t>1</a:t>
            </a:r>
            <a:endParaRPr lang="en-US" sz="2200" dirty="0"/>
          </a:p>
        </p:txBody>
      </p:sp>
      <p:sp>
        <p:nvSpPr>
          <p:cNvPr id="5" name="Text 2"/>
          <p:cNvSpPr/>
          <p:nvPr/>
        </p:nvSpPr>
        <p:spPr>
          <a:xfrm>
            <a:off x="4926806" y="2117646"/>
            <a:ext cx="1305282"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Structure</a:t>
            </a:r>
            <a:endParaRPr lang="en-US" sz="2200" dirty="0"/>
          </a:p>
        </p:txBody>
      </p:sp>
      <p:sp>
        <p:nvSpPr>
          <p:cNvPr id="6" name="Shape 3"/>
          <p:cNvSpPr/>
          <p:nvPr/>
        </p:nvSpPr>
        <p:spPr>
          <a:xfrm>
            <a:off x="4756666" y="2711887"/>
            <a:ext cx="9023271" cy="15240"/>
          </a:xfrm>
          <a:prstGeom prst="roundRect">
            <a:avLst>
              <a:gd name="adj" fmla="val 223256"/>
            </a:avLst>
          </a:prstGeom>
          <a:solidFill>
            <a:srgbClr val="535455"/>
          </a:solidFill>
          <a:ln/>
        </p:spPr>
      </p:sp>
      <p:pic>
        <p:nvPicPr>
          <p:cNvPr id="7" name="Image 1" descr="preencoded.png"/>
          <p:cNvPicPr>
            <a:picLocks noChangeAspect="1"/>
          </p:cNvPicPr>
          <p:nvPr/>
        </p:nvPicPr>
        <p:blipFill>
          <a:blip r:embed="rId4"/>
          <a:stretch>
            <a:fillRect/>
          </a:stretch>
        </p:blipFill>
        <p:spPr>
          <a:xfrm>
            <a:off x="2763203" y="2755463"/>
            <a:ext cx="2582466" cy="807958"/>
          </a:xfrm>
          <a:prstGeom prst="rect">
            <a:avLst/>
          </a:prstGeom>
        </p:spPr>
      </p:pic>
      <p:sp>
        <p:nvSpPr>
          <p:cNvPr id="8" name="Text 4"/>
          <p:cNvSpPr/>
          <p:nvPr/>
        </p:nvSpPr>
        <p:spPr>
          <a:xfrm>
            <a:off x="3967520" y="2932628"/>
            <a:ext cx="173712" cy="453509"/>
          </a:xfrm>
          <a:prstGeom prst="rect">
            <a:avLst/>
          </a:prstGeom>
          <a:noFill/>
          <a:ln/>
        </p:spPr>
        <p:txBody>
          <a:bodyPr wrap="none" lIns="0" tIns="0" rIns="0" bIns="0" rtlCol="0" anchor="t"/>
          <a:lstStyle/>
          <a:p>
            <a:pPr marL="0" indent="0" algn="ctr">
              <a:lnSpc>
                <a:spcPts val="3550"/>
              </a:lnSpc>
              <a:buNone/>
            </a:pPr>
            <a:r>
              <a:rPr lang="en-US" sz="2200" dirty="0">
                <a:solidFill>
                  <a:srgbClr val="CFCBBF"/>
                </a:solidFill>
                <a:latin typeface="Prata" pitchFamily="34" charset="0"/>
                <a:ea typeface="Prata" pitchFamily="34" charset="-122"/>
                <a:cs typeface="Prata" pitchFamily="34" charset="-120"/>
              </a:rPr>
              <a:t>2</a:t>
            </a:r>
            <a:endParaRPr lang="en-US" sz="2200" dirty="0"/>
          </a:p>
        </p:txBody>
      </p:sp>
      <p:sp>
        <p:nvSpPr>
          <p:cNvPr id="9" name="Text 5"/>
          <p:cNvSpPr/>
          <p:nvPr/>
        </p:nvSpPr>
        <p:spPr>
          <a:xfrm>
            <a:off x="5572482" y="2982277"/>
            <a:ext cx="108644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Content</a:t>
            </a:r>
            <a:endParaRPr lang="en-US" sz="2200" dirty="0"/>
          </a:p>
        </p:txBody>
      </p:sp>
      <p:sp>
        <p:nvSpPr>
          <p:cNvPr id="10" name="Shape 6"/>
          <p:cNvSpPr/>
          <p:nvPr/>
        </p:nvSpPr>
        <p:spPr>
          <a:xfrm>
            <a:off x="5402342" y="3576518"/>
            <a:ext cx="8377595" cy="15240"/>
          </a:xfrm>
          <a:prstGeom prst="roundRect">
            <a:avLst>
              <a:gd name="adj" fmla="val 223256"/>
            </a:avLst>
          </a:prstGeom>
          <a:solidFill>
            <a:srgbClr val="535455"/>
          </a:solidFill>
          <a:ln/>
        </p:spPr>
      </p:sp>
      <p:pic>
        <p:nvPicPr>
          <p:cNvPr id="11" name="Image 2" descr="preencoded.png"/>
          <p:cNvPicPr>
            <a:picLocks noChangeAspect="1"/>
          </p:cNvPicPr>
          <p:nvPr/>
        </p:nvPicPr>
        <p:blipFill>
          <a:blip r:embed="rId5"/>
          <a:stretch>
            <a:fillRect/>
          </a:stretch>
        </p:blipFill>
        <p:spPr>
          <a:xfrm>
            <a:off x="2117527" y="3620095"/>
            <a:ext cx="3873698" cy="807958"/>
          </a:xfrm>
          <a:prstGeom prst="rect">
            <a:avLst/>
          </a:prstGeom>
        </p:spPr>
      </p:pic>
      <p:sp>
        <p:nvSpPr>
          <p:cNvPr id="12" name="Text 7"/>
          <p:cNvSpPr/>
          <p:nvPr/>
        </p:nvSpPr>
        <p:spPr>
          <a:xfrm>
            <a:off x="3966448" y="3797260"/>
            <a:ext cx="175736" cy="453509"/>
          </a:xfrm>
          <a:prstGeom prst="rect">
            <a:avLst/>
          </a:prstGeom>
          <a:noFill/>
          <a:ln/>
        </p:spPr>
        <p:txBody>
          <a:bodyPr wrap="none" lIns="0" tIns="0" rIns="0" bIns="0" rtlCol="0" anchor="t"/>
          <a:lstStyle/>
          <a:p>
            <a:pPr marL="0" indent="0" algn="ctr">
              <a:lnSpc>
                <a:spcPts val="3550"/>
              </a:lnSpc>
              <a:buNone/>
            </a:pPr>
            <a:r>
              <a:rPr lang="en-US" sz="2200" dirty="0">
                <a:solidFill>
                  <a:srgbClr val="CFCBBF"/>
                </a:solidFill>
                <a:latin typeface="Prata" pitchFamily="34" charset="0"/>
                <a:ea typeface="Prata" pitchFamily="34" charset="-122"/>
                <a:cs typeface="Prata" pitchFamily="34" charset="-120"/>
              </a:rPr>
              <a:t>3</a:t>
            </a:r>
            <a:endParaRPr lang="en-US" sz="2200" dirty="0"/>
          </a:p>
        </p:txBody>
      </p:sp>
      <p:sp>
        <p:nvSpPr>
          <p:cNvPr id="13" name="Text 8"/>
          <p:cNvSpPr/>
          <p:nvPr/>
        </p:nvSpPr>
        <p:spPr>
          <a:xfrm>
            <a:off x="6218039" y="3846909"/>
            <a:ext cx="1272421"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Branding</a:t>
            </a:r>
            <a:endParaRPr lang="en-US" sz="2200" dirty="0"/>
          </a:p>
        </p:txBody>
      </p:sp>
      <p:sp>
        <p:nvSpPr>
          <p:cNvPr id="14" name="Shape 9"/>
          <p:cNvSpPr/>
          <p:nvPr/>
        </p:nvSpPr>
        <p:spPr>
          <a:xfrm>
            <a:off x="6047899" y="4441150"/>
            <a:ext cx="7732038" cy="15240"/>
          </a:xfrm>
          <a:prstGeom prst="roundRect">
            <a:avLst>
              <a:gd name="adj" fmla="val 223256"/>
            </a:avLst>
          </a:prstGeom>
          <a:solidFill>
            <a:srgbClr val="535455"/>
          </a:solidFill>
          <a:ln/>
        </p:spPr>
      </p:sp>
      <p:pic>
        <p:nvPicPr>
          <p:cNvPr id="15" name="Image 3" descr="preencoded.png"/>
          <p:cNvPicPr>
            <a:picLocks noChangeAspect="1"/>
          </p:cNvPicPr>
          <p:nvPr/>
        </p:nvPicPr>
        <p:blipFill>
          <a:blip r:embed="rId6"/>
          <a:stretch>
            <a:fillRect/>
          </a:stretch>
        </p:blipFill>
        <p:spPr>
          <a:xfrm>
            <a:off x="1471970" y="4484727"/>
            <a:ext cx="5164931" cy="807958"/>
          </a:xfrm>
          <a:prstGeom prst="rect">
            <a:avLst/>
          </a:prstGeom>
        </p:spPr>
      </p:pic>
      <p:sp>
        <p:nvSpPr>
          <p:cNvPr id="16" name="Text 10"/>
          <p:cNvSpPr/>
          <p:nvPr/>
        </p:nvSpPr>
        <p:spPr>
          <a:xfrm>
            <a:off x="3971449" y="4661892"/>
            <a:ext cx="165854" cy="453509"/>
          </a:xfrm>
          <a:prstGeom prst="rect">
            <a:avLst/>
          </a:prstGeom>
          <a:noFill/>
          <a:ln/>
        </p:spPr>
        <p:txBody>
          <a:bodyPr wrap="none" lIns="0" tIns="0" rIns="0" bIns="0" rtlCol="0" anchor="t"/>
          <a:lstStyle/>
          <a:p>
            <a:pPr marL="0" indent="0" algn="ctr">
              <a:lnSpc>
                <a:spcPts val="3550"/>
              </a:lnSpc>
              <a:buNone/>
            </a:pPr>
            <a:r>
              <a:rPr lang="en-US" sz="2200" dirty="0">
                <a:solidFill>
                  <a:srgbClr val="CFCBBF"/>
                </a:solidFill>
                <a:latin typeface="Prata" pitchFamily="34" charset="0"/>
                <a:ea typeface="Prata" pitchFamily="34" charset="-122"/>
                <a:cs typeface="Prata" pitchFamily="34" charset="-120"/>
              </a:rPr>
              <a:t>4</a:t>
            </a:r>
            <a:endParaRPr lang="en-US" sz="2200" dirty="0"/>
          </a:p>
        </p:txBody>
      </p:sp>
      <p:sp>
        <p:nvSpPr>
          <p:cNvPr id="17" name="Text 11"/>
          <p:cNvSpPr/>
          <p:nvPr/>
        </p:nvSpPr>
        <p:spPr>
          <a:xfrm>
            <a:off x="6863715" y="4711541"/>
            <a:ext cx="2161937"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Responsiveness</a:t>
            </a:r>
            <a:endParaRPr lang="en-US" sz="2200" dirty="0"/>
          </a:p>
        </p:txBody>
      </p:sp>
      <p:sp>
        <p:nvSpPr>
          <p:cNvPr id="18" name="Shape 12"/>
          <p:cNvSpPr/>
          <p:nvPr/>
        </p:nvSpPr>
        <p:spPr>
          <a:xfrm>
            <a:off x="6693575" y="5305782"/>
            <a:ext cx="7086362" cy="15240"/>
          </a:xfrm>
          <a:prstGeom prst="roundRect">
            <a:avLst>
              <a:gd name="adj" fmla="val 223256"/>
            </a:avLst>
          </a:prstGeom>
          <a:solidFill>
            <a:srgbClr val="535455"/>
          </a:solidFill>
          <a:ln/>
        </p:spPr>
      </p:sp>
      <p:pic>
        <p:nvPicPr>
          <p:cNvPr id="19" name="Image 4" descr="preencoded.png"/>
          <p:cNvPicPr>
            <a:picLocks noChangeAspect="1"/>
          </p:cNvPicPr>
          <p:nvPr/>
        </p:nvPicPr>
        <p:blipFill>
          <a:blip r:embed="rId7"/>
          <a:stretch>
            <a:fillRect/>
          </a:stretch>
        </p:blipFill>
        <p:spPr>
          <a:xfrm>
            <a:off x="826294" y="5349359"/>
            <a:ext cx="6456164" cy="807958"/>
          </a:xfrm>
          <a:prstGeom prst="rect">
            <a:avLst/>
          </a:prstGeom>
        </p:spPr>
      </p:pic>
      <p:sp>
        <p:nvSpPr>
          <p:cNvPr id="20" name="Text 13"/>
          <p:cNvSpPr/>
          <p:nvPr/>
        </p:nvSpPr>
        <p:spPr>
          <a:xfrm>
            <a:off x="3968472" y="5526524"/>
            <a:ext cx="171807" cy="453509"/>
          </a:xfrm>
          <a:prstGeom prst="rect">
            <a:avLst/>
          </a:prstGeom>
          <a:noFill/>
          <a:ln/>
        </p:spPr>
        <p:txBody>
          <a:bodyPr wrap="none" lIns="0" tIns="0" rIns="0" bIns="0" rtlCol="0" anchor="t"/>
          <a:lstStyle/>
          <a:p>
            <a:pPr marL="0" indent="0" algn="ctr">
              <a:lnSpc>
                <a:spcPts val="3550"/>
              </a:lnSpc>
              <a:buNone/>
            </a:pPr>
            <a:r>
              <a:rPr lang="en-US" sz="2200" dirty="0">
                <a:solidFill>
                  <a:srgbClr val="CFCBBF"/>
                </a:solidFill>
                <a:latin typeface="Prata" pitchFamily="34" charset="0"/>
                <a:ea typeface="Prata" pitchFamily="34" charset="-122"/>
                <a:cs typeface="Prata" pitchFamily="34" charset="-120"/>
              </a:rPr>
              <a:t>5</a:t>
            </a:r>
            <a:endParaRPr lang="en-US" sz="2200" dirty="0"/>
          </a:p>
        </p:txBody>
      </p:sp>
      <p:sp>
        <p:nvSpPr>
          <p:cNvPr id="21" name="Text 14"/>
          <p:cNvSpPr/>
          <p:nvPr/>
        </p:nvSpPr>
        <p:spPr>
          <a:xfrm>
            <a:off x="7509272" y="5576173"/>
            <a:ext cx="1506974"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Interaction</a:t>
            </a:r>
            <a:endParaRPr lang="en-US" sz="2200" dirty="0"/>
          </a:p>
        </p:txBody>
      </p:sp>
      <p:sp>
        <p:nvSpPr>
          <p:cNvPr id="22" name="Text 15"/>
          <p:cNvSpPr/>
          <p:nvPr/>
        </p:nvSpPr>
        <p:spPr>
          <a:xfrm>
            <a:off x="793790" y="6412468"/>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CFCBBF"/>
                </a:solidFill>
                <a:latin typeface="Raleway" pitchFamily="34" charset="0"/>
                <a:ea typeface="Raleway" pitchFamily="34" charset="-122"/>
                <a:cs typeface="Raleway" pitchFamily="34" charset="-120"/>
              </a:rPr>
              <a:t>Building a personal portfolio website requires careful planning and execution. By focusing on a solid structure, compelling content, a strong brand identity, responsiveness across devices, and engaging interactions, you can create a professional and effective online showcase of your skills and achievements.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307108-B9B2-1E37-0299-741F1C6D1ABB}"/>
              </a:ext>
            </a:extLst>
          </p:cNvPr>
          <p:cNvSpPr txBox="1"/>
          <p:nvPr/>
        </p:nvSpPr>
        <p:spPr>
          <a:xfrm>
            <a:off x="372533" y="1236133"/>
            <a:ext cx="13851467" cy="70788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4000" b="1" dirty="0">
                <a:ln>
                  <a:solidFill>
                    <a:srgbClr val="00B0F0"/>
                  </a:solidFill>
                </a:ln>
                <a:solidFill>
                  <a:schemeClr val="accent2">
                    <a:lumMod val="40000"/>
                    <a:lumOff val="60000"/>
                  </a:schemeClr>
                </a:solidFill>
                <a:effectLst>
                  <a:outerShdw blurRad="50800" dist="38100" algn="l" rotWithShape="0">
                    <a:prstClr val="black">
                      <a:alpha val="40000"/>
                    </a:prstClr>
                  </a:outerShdw>
                </a:effectLst>
              </a:rPr>
              <a:t>This Presentation is made in group with our valuable members.</a:t>
            </a:r>
            <a:endParaRPr lang="LID4096" sz="4000" b="1" dirty="0">
              <a:ln>
                <a:solidFill>
                  <a:srgbClr val="00B0F0"/>
                </a:solidFill>
              </a:ln>
              <a:solidFill>
                <a:schemeClr val="accent2">
                  <a:lumMod val="40000"/>
                  <a:lumOff val="60000"/>
                </a:schemeClr>
              </a:solidFill>
              <a:effectLst>
                <a:outerShdw blurRad="50800" dist="38100" algn="l" rotWithShape="0">
                  <a:prstClr val="black">
                    <a:alpha val="40000"/>
                  </a:prstClr>
                </a:outerShdw>
              </a:effectLst>
            </a:endParaRPr>
          </a:p>
        </p:txBody>
      </p:sp>
      <p:sp>
        <p:nvSpPr>
          <p:cNvPr id="3" name="TextBox 2">
            <a:extLst>
              <a:ext uri="{FF2B5EF4-FFF2-40B4-BE49-F238E27FC236}">
                <a16:creationId xmlns:a16="http://schemas.microsoft.com/office/drawing/2014/main" id="{484FD31C-F182-524E-6A91-BDD128FE1439}"/>
              </a:ext>
            </a:extLst>
          </p:cNvPr>
          <p:cNvSpPr txBox="1"/>
          <p:nvPr/>
        </p:nvSpPr>
        <p:spPr>
          <a:xfrm>
            <a:off x="2277533" y="5820490"/>
            <a:ext cx="6417733" cy="2123658"/>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342900" indent="-342900">
              <a:buAutoNum type="arabicPeriod"/>
            </a:pPr>
            <a:r>
              <a:rPr lang="en-US" sz="4400" dirty="0">
                <a:solidFill>
                  <a:srgbClr val="FFC000"/>
                </a:solidFill>
                <a:effectLst>
                  <a:outerShdw blurRad="50800" dist="38100" dir="2700000" algn="tl" rotWithShape="0">
                    <a:prstClr val="black">
                      <a:alpha val="40000"/>
                    </a:prstClr>
                  </a:outerShdw>
                </a:effectLst>
              </a:rPr>
              <a:t>Muhammad Zubair 049</a:t>
            </a:r>
          </a:p>
          <a:p>
            <a:pPr marL="342900" indent="-342900">
              <a:buAutoNum type="arabicPeriod"/>
            </a:pPr>
            <a:r>
              <a:rPr lang="en-US" sz="4400" dirty="0">
                <a:solidFill>
                  <a:srgbClr val="FFC000"/>
                </a:solidFill>
                <a:effectLst>
                  <a:outerShdw blurRad="50800" dist="38100" dir="2700000" algn="tl" rotWithShape="0">
                    <a:prstClr val="black">
                      <a:alpha val="40000"/>
                    </a:prstClr>
                  </a:outerShdw>
                </a:effectLst>
              </a:rPr>
              <a:t>Ahsan Hammad       015</a:t>
            </a:r>
          </a:p>
          <a:p>
            <a:pPr marL="342900" indent="-342900">
              <a:buAutoNum type="arabicPeriod"/>
            </a:pPr>
            <a:r>
              <a:rPr lang="en-US" sz="4400" dirty="0">
                <a:solidFill>
                  <a:srgbClr val="FFC000"/>
                </a:solidFill>
                <a:effectLst>
                  <a:outerShdw blurRad="50800" dist="38100" dir="2700000" algn="tl" rotWithShape="0">
                    <a:prstClr val="black">
                      <a:alpha val="40000"/>
                    </a:prstClr>
                  </a:outerShdw>
                </a:effectLst>
              </a:rPr>
              <a:t>Ahsan Rehman         003</a:t>
            </a:r>
            <a:endParaRPr lang="LID4096" sz="4400" dirty="0">
              <a:solidFill>
                <a:srgbClr val="FFC000"/>
              </a:solidFill>
              <a:effectLst>
                <a:outerShdw blurRad="50800" dist="38100" dir="2700000" algn="tl" rotWithShape="0">
                  <a:prstClr val="black">
                    <a:alpha val="40000"/>
                  </a:prstClr>
                </a:outerShdw>
              </a:effectLst>
            </a:endParaRPr>
          </a:p>
        </p:txBody>
      </p:sp>
      <p:sp>
        <p:nvSpPr>
          <p:cNvPr id="4" name="TextBox 3">
            <a:extLst>
              <a:ext uri="{FF2B5EF4-FFF2-40B4-BE49-F238E27FC236}">
                <a16:creationId xmlns:a16="http://schemas.microsoft.com/office/drawing/2014/main" id="{AC589A8E-0A9E-04A0-811C-AF13E71B7ECA}"/>
              </a:ext>
            </a:extLst>
          </p:cNvPr>
          <p:cNvSpPr txBox="1"/>
          <p:nvPr/>
        </p:nvSpPr>
        <p:spPr>
          <a:xfrm>
            <a:off x="372533" y="2313689"/>
            <a:ext cx="1608667" cy="707886"/>
          </a:xfrm>
          <a:prstGeom prst="rect">
            <a:avLst/>
          </a:prstGeom>
          <a:solidFill>
            <a:srgbClr val="FF0000"/>
          </a:solidFill>
        </p:spPr>
        <p:txBody>
          <a:bodyPr wrap="square" rtlCol="0">
            <a:spAutoFit/>
          </a:bodyPr>
          <a:lstStyle/>
          <a:p>
            <a:r>
              <a:rPr lang="en-US" sz="4000" dirty="0"/>
              <a:t>Leader</a:t>
            </a:r>
            <a:endParaRPr lang="LID4096" sz="4000" dirty="0"/>
          </a:p>
        </p:txBody>
      </p:sp>
      <p:sp>
        <p:nvSpPr>
          <p:cNvPr id="5" name="TextBox 4">
            <a:extLst>
              <a:ext uri="{FF2B5EF4-FFF2-40B4-BE49-F238E27FC236}">
                <a16:creationId xmlns:a16="http://schemas.microsoft.com/office/drawing/2014/main" id="{81FC97E4-CD97-2BAF-9D6B-E91331A603C9}"/>
              </a:ext>
            </a:extLst>
          </p:cNvPr>
          <p:cNvSpPr txBox="1"/>
          <p:nvPr/>
        </p:nvSpPr>
        <p:spPr>
          <a:xfrm>
            <a:off x="2277533" y="3238844"/>
            <a:ext cx="4902200" cy="646331"/>
          </a:xfrm>
          <a:prstGeom prst="rect">
            <a:avLst/>
          </a:prstGeom>
          <a:solidFill>
            <a:schemeClr val="tx1"/>
          </a:solidFill>
          <a:ln>
            <a:solidFill>
              <a:schemeClr val="accent5">
                <a:lumMod val="75000"/>
              </a:schemeClr>
            </a:solidFill>
          </a:ln>
        </p:spPr>
        <p:txBody>
          <a:bodyPr wrap="square" rtlCol="0">
            <a:spAutoFit/>
          </a:bodyPr>
          <a:lstStyle/>
          <a:p>
            <a:r>
              <a:rPr lang="en-US" sz="3600" dirty="0">
                <a:solidFill>
                  <a:schemeClr val="bg1"/>
                </a:solidFill>
              </a:rPr>
              <a:t>Muhammad Ahmad 027</a:t>
            </a:r>
            <a:endParaRPr lang="LID4096" sz="3600" dirty="0">
              <a:solidFill>
                <a:schemeClr val="bg1"/>
              </a:solidFill>
            </a:endParaRPr>
          </a:p>
        </p:txBody>
      </p:sp>
      <p:sp>
        <p:nvSpPr>
          <p:cNvPr id="6" name="TextBox 5">
            <a:extLst>
              <a:ext uri="{FF2B5EF4-FFF2-40B4-BE49-F238E27FC236}">
                <a16:creationId xmlns:a16="http://schemas.microsoft.com/office/drawing/2014/main" id="{6D74AC2D-1746-69AD-C219-9EF53DF4F3CA}"/>
              </a:ext>
            </a:extLst>
          </p:cNvPr>
          <p:cNvSpPr txBox="1"/>
          <p:nvPr/>
        </p:nvSpPr>
        <p:spPr>
          <a:xfrm>
            <a:off x="330199" y="4956890"/>
            <a:ext cx="2302934" cy="646331"/>
          </a:xfrm>
          <a:prstGeom prst="rect">
            <a:avLst/>
          </a:prstGeom>
          <a:solidFill>
            <a:schemeClr val="accent4">
              <a:lumMod val="60000"/>
              <a:lumOff val="40000"/>
            </a:schemeClr>
          </a:solidFill>
        </p:spPr>
        <p:txBody>
          <a:bodyPr wrap="square" rtlCol="0">
            <a:spAutoFit/>
          </a:bodyPr>
          <a:lstStyle/>
          <a:p>
            <a:r>
              <a:rPr lang="en-US" sz="3600" dirty="0"/>
              <a:t>Members</a:t>
            </a:r>
            <a:endParaRPr lang="LID4096" sz="3600" dirty="0"/>
          </a:p>
        </p:txBody>
      </p:sp>
    </p:spTree>
    <p:extLst>
      <p:ext uri="{BB962C8B-B14F-4D97-AF65-F5344CB8AC3E}">
        <p14:creationId xmlns:p14="http://schemas.microsoft.com/office/powerpoint/2010/main" val="2648827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790</Words>
  <Application>Microsoft Office PowerPoint</Application>
  <PresentationFormat>Custom</PresentationFormat>
  <Paragraphs>74</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Prata</vt:lpstr>
      <vt:lpstr>Raleway</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Ahsan Rehman</cp:lastModifiedBy>
  <cp:revision>4</cp:revision>
  <dcterms:created xsi:type="dcterms:W3CDTF">2025-01-28T12:27:54Z</dcterms:created>
  <dcterms:modified xsi:type="dcterms:W3CDTF">2025-01-28T13:09:40Z</dcterms:modified>
</cp:coreProperties>
</file>